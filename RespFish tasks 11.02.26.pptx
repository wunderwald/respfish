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71"/>
    <p:restoredTop sz="96963"/>
  </p:normalViewPr>
  <p:slideViewPr>
    <p:cSldViewPr snapToGrid="0">
      <p:cViewPr>
        <p:scale>
          <a:sx n="186" d="100"/>
          <a:sy n="186" d="100"/>
        </p:scale>
        <p:origin x="144" y="-9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34A27D-06F4-B74E-946C-8EB5B1DCBA60}" type="datetimeFigureOut">
              <a:rPr lang="en-US" smtClean="0"/>
              <a:t>2/11/26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BF8B9-E6DB-FC43-B5FE-7A64D0937EB2}" type="slidenum">
              <a:rPr lang="en-US" smtClean="0"/>
              <a:t>‹#›</a:t>
            </a:fld>
            <a:endParaRPr lang="en-US"/>
          </a:p>
        </p:txBody>
      </p:sp>
    </p:spTree>
    <p:extLst>
      <p:ext uri="{BB962C8B-B14F-4D97-AF65-F5344CB8AC3E}">
        <p14:creationId xmlns:p14="http://schemas.microsoft.com/office/powerpoint/2010/main" val="3325159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9BF8B9-E6DB-FC43-B5FE-7A64D0937EB2}" type="slidenum">
              <a:rPr lang="en-US" smtClean="0"/>
              <a:t>1</a:t>
            </a:fld>
            <a:endParaRPr lang="en-US"/>
          </a:p>
        </p:txBody>
      </p:sp>
    </p:spTree>
    <p:extLst>
      <p:ext uri="{BB962C8B-B14F-4D97-AF65-F5344CB8AC3E}">
        <p14:creationId xmlns:p14="http://schemas.microsoft.com/office/powerpoint/2010/main" val="1758602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C0F9A-DA4D-12AC-C61A-D80C3451EE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23AFA6-4EC2-8871-E6C7-AAF3EC16AB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2E9B2A-865C-CB18-6CD0-A076A5A4C8F8}"/>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5" name="Footer Placeholder 4">
            <a:extLst>
              <a:ext uri="{FF2B5EF4-FFF2-40B4-BE49-F238E27FC236}">
                <a16:creationId xmlns:a16="http://schemas.microsoft.com/office/drawing/2014/main" id="{5682683E-6E3E-D7AC-A096-E83335871F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48B98A-1855-1711-B769-DC7F093F68EE}"/>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1907923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0FCAC-F000-5A98-C24A-E67B273F1F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5439DF-6E11-A029-2D19-8E93147A62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0D6613-916D-2AA6-6DA9-B479E02093A5}"/>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5" name="Footer Placeholder 4">
            <a:extLst>
              <a:ext uri="{FF2B5EF4-FFF2-40B4-BE49-F238E27FC236}">
                <a16:creationId xmlns:a16="http://schemas.microsoft.com/office/drawing/2014/main" id="{E0DA3E55-DEF1-6542-879F-14815AE82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F04F65-BD92-084D-ACCA-127FC4EA1C02}"/>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168738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B56AA-51F5-A414-F43D-31A9738DC3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C6F246-BB29-9B21-796C-CEC8356BF7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4A3F8F-A369-CD87-9DC6-20A85B1E1299}"/>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5" name="Footer Placeholder 4">
            <a:extLst>
              <a:ext uri="{FF2B5EF4-FFF2-40B4-BE49-F238E27FC236}">
                <a16:creationId xmlns:a16="http://schemas.microsoft.com/office/drawing/2014/main" id="{FBC652A5-F52E-57C9-EF92-9AA286F63F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A3CB31-AB9D-0190-C88A-3B76008B7E51}"/>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2740954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072F-3279-EFD5-9819-9B029752C9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982FA8-C344-B2F7-CC8C-14BD6F15E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8A448E-EDD0-7DE8-11C6-7D1FCE547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640244-3724-32CA-CE73-83433D34FF41}"/>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6" name="Footer Placeholder 5">
            <a:extLst>
              <a:ext uri="{FF2B5EF4-FFF2-40B4-BE49-F238E27FC236}">
                <a16:creationId xmlns:a16="http://schemas.microsoft.com/office/drawing/2014/main" id="{FCD8E247-E167-5648-4DF2-0FA06AE950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D1B1AA-CA04-5FA4-A359-2F41FF3AD5E6}"/>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168636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0CDED-2460-9E4F-BC16-E361EE157C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7EE6FF-9C12-536E-3447-6F4D45E954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1FA8ED-E134-5B71-BDD0-DC97801D8A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AB9CE9-AA11-69B2-8081-6CA4C99172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007852-DF99-1CEB-6433-B147889D66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CED40D-B0C3-2BC3-2592-22D3394A2DE5}"/>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8" name="Footer Placeholder 7">
            <a:extLst>
              <a:ext uri="{FF2B5EF4-FFF2-40B4-BE49-F238E27FC236}">
                <a16:creationId xmlns:a16="http://schemas.microsoft.com/office/drawing/2014/main" id="{FA5202FF-F73F-9A81-485A-82385339A3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7746F-F59F-A7AF-B26F-764B55DDF83A}"/>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2110809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CBB60-A404-2F9C-2E68-7407965AEC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36A0B4-F8E8-6B95-D3AF-6596D09A0667}"/>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4" name="Footer Placeholder 3">
            <a:extLst>
              <a:ext uri="{FF2B5EF4-FFF2-40B4-BE49-F238E27FC236}">
                <a16:creationId xmlns:a16="http://schemas.microsoft.com/office/drawing/2014/main" id="{F6A2726C-2196-A022-E7CD-BE7597B07B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CFC5BE-9F75-EFA0-21E3-4F3F9E104A5B}"/>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4201766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5768A5-7879-1540-69EF-4C9630620965}"/>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3" name="Footer Placeholder 2">
            <a:extLst>
              <a:ext uri="{FF2B5EF4-FFF2-40B4-BE49-F238E27FC236}">
                <a16:creationId xmlns:a16="http://schemas.microsoft.com/office/drawing/2014/main" id="{4DF3CD74-7F6E-D042-428D-4E7C9183C9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871B49-B776-5A1D-6B38-C792A292FC26}"/>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1630451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328C5-B361-035D-337A-C99171C7D7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6BB458-632B-B71C-A609-DB9B04BB9B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105AD2-437E-0D5E-CF01-45E5BCF2A4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7D430D-5358-D007-24F5-5F7AD20E7992}"/>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6" name="Footer Placeholder 5">
            <a:extLst>
              <a:ext uri="{FF2B5EF4-FFF2-40B4-BE49-F238E27FC236}">
                <a16:creationId xmlns:a16="http://schemas.microsoft.com/office/drawing/2014/main" id="{E583EBD1-76AB-2EAB-1D39-B4EC49AD57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827CBA-9CC2-0E03-A4CC-EDC3A65FA96B}"/>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1372222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EC976-4C0C-3FF6-B466-CC796972AF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3AFA53-ECA1-8E53-853A-A1E4EDCA4E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75E133-1524-73AB-889A-28BB1D41AB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7B4F93-BB35-FE35-9A4D-615BF8FC6C1C}"/>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6" name="Footer Placeholder 5">
            <a:extLst>
              <a:ext uri="{FF2B5EF4-FFF2-40B4-BE49-F238E27FC236}">
                <a16:creationId xmlns:a16="http://schemas.microsoft.com/office/drawing/2014/main" id="{5E25D717-40D6-BBB9-C2D7-7D7248245D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4749F5-70F8-E9E8-CBCC-37BDB49267D6}"/>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1672635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FAE0B-F4C4-F2F5-11F0-83E705867B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6B120A-FD7F-7090-E7A6-453F4125C7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06F83-70F3-F83E-8097-D8FBA2878EE0}"/>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5" name="Footer Placeholder 4">
            <a:extLst>
              <a:ext uri="{FF2B5EF4-FFF2-40B4-BE49-F238E27FC236}">
                <a16:creationId xmlns:a16="http://schemas.microsoft.com/office/drawing/2014/main" id="{771573C8-E39C-0F15-4442-984EC0694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3EC9D-3576-0BA1-2C21-B36D68896D9A}"/>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3450736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FFAC37-6D92-4DDF-3D4F-1877668F67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A516E0-9F23-E168-9153-FB7B88B66D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83DE38-73AF-9E10-2107-A2420B929938}"/>
              </a:ext>
            </a:extLst>
          </p:cNvPr>
          <p:cNvSpPr>
            <a:spLocks noGrp="1"/>
          </p:cNvSpPr>
          <p:nvPr>
            <p:ph type="dt" sz="half" idx="10"/>
          </p:nvPr>
        </p:nvSpPr>
        <p:spPr/>
        <p:txBody>
          <a:bodyPr/>
          <a:lstStyle/>
          <a:p>
            <a:fld id="{77761CD9-1C04-7047-9518-4255BEDDB8CB}" type="datetimeFigureOut">
              <a:rPr lang="en-US" smtClean="0"/>
              <a:t>2/11/26</a:t>
            </a:fld>
            <a:endParaRPr lang="en-US"/>
          </a:p>
        </p:txBody>
      </p:sp>
      <p:sp>
        <p:nvSpPr>
          <p:cNvPr id="5" name="Footer Placeholder 4">
            <a:extLst>
              <a:ext uri="{FF2B5EF4-FFF2-40B4-BE49-F238E27FC236}">
                <a16:creationId xmlns:a16="http://schemas.microsoft.com/office/drawing/2014/main" id="{C1480F0C-6134-55B6-93FD-0058A6909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EA053-0ECA-0F07-5ED2-43A1ECC7CE66}"/>
              </a:ext>
            </a:extLst>
          </p:cNvPr>
          <p:cNvSpPr>
            <a:spLocks noGrp="1"/>
          </p:cNvSpPr>
          <p:nvPr>
            <p:ph type="sldNum" sz="quarter" idx="12"/>
          </p:nvPr>
        </p:nvSpPr>
        <p:spPr/>
        <p:txBody>
          <a:bodyPr/>
          <a:lstStyle/>
          <a:p>
            <a:fld id="{472C9667-3F47-2D44-AD9F-43CA61844539}" type="slidenum">
              <a:rPr lang="en-US" smtClean="0"/>
              <a:t>‹#›</a:t>
            </a:fld>
            <a:endParaRPr lang="en-US"/>
          </a:p>
        </p:txBody>
      </p:sp>
    </p:spTree>
    <p:extLst>
      <p:ext uri="{BB962C8B-B14F-4D97-AF65-F5344CB8AC3E}">
        <p14:creationId xmlns:p14="http://schemas.microsoft.com/office/powerpoint/2010/main" val="3202174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BE8048-EA87-76C3-89BA-E9E1FCF19B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1C40DE-8FA1-F91D-60CA-5CEF2F419B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1FC1B-ABE3-2339-35CF-AD0BF268DD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761CD9-1C04-7047-9518-4255BEDDB8CB}" type="datetimeFigureOut">
              <a:rPr lang="en-US" smtClean="0"/>
              <a:t>2/11/26</a:t>
            </a:fld>
            <a:endParaRPr lang="en-US"/>
          </a:p>
        </p:txBody>
      </p:sp>
      <p:sp>
        <p:nvSpPr>
          <p:cNvPr id="5" name="Footer Placeholder 4">
            <a:extLst>
              <a:ext uri="{FF2B5EF4-FFF2-40B4-BE49-F238E27FC236}">
                <a16:creationId xmlns:a16="http://schemas.microsoft.com/office/drawing/2014/main" id="{A2ADAAB4-FB4E-915A-37CD-AAD1322B74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83BF8E-B902-918B-8213-8ABA0A2C51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2C9667-3F47-2D44-AD9F-43CA61844539}" type="slidenum">
              <a:rPr lang="en-US" smtClean="0"/>
              <a:t>‹#›</a:t>
            </a:fld>
            <a:endParaRPr lang="en-US"/>
          </a:p>
        </p:txBody>
      </p:sp>
    </p:spTree>
    <p:extLst>
      <p:ext uri="{BB962C8B-B14F-4D97-AF65-F5344CB8AC3E}">
        <p14:creationId xmlns:p14="http://schemas.microsoft.com/office/powerpoint/2010/main" val="895311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B8B14-3801-8D1F-9D21-E769CB0A9D9D}"/>
              </a:ext>
            </a:extLst>
          </p:cNvPr>
          <p:cNvSpPr>
            <a:spLocks noGrp="1"/>
          </p:cNvSpPr>
          <p:nvPr>
            <p:ph type="ctrTitle"/>
          </p:nvPr>
        </p:nvSpPr>
        <p:spPr/>
        <p:txBody>
          <a:bodyPr>
            <a:normAutofit fontScale="90000"/>
          </a:bodyPr>
          <a:lstStyle/>
          <a:p>
            <a:r>
              <a:rPr lang="en-US" dirty="0"/>
              <a:t>Respiratory interoception in the developing brain – </a:t>
            </a:r>
            <a:br>
              <a:rPr lang="en-US" dirty="0"/>
            </a:br>
            <a:r>
              <a:rPr lang="en-US" dirty="0"/>
              <a:t>developing the tasks</a:t>
            </a:r>
          </a:p>
        </p:txBody>
      </p:sp>
      <p:sp>
        <p:nvSpPr>
          <p:cNvPr id="3" name="Subtitle 2">
            <a:extLst>
              <a:ext uri="{FF2B5EF4-FFF2-40B4-BE49-F238E27FC236}">
                <a16:creationId xmlns:a16="http://schemas.microsoft.com/office/drawing/2014/main" id="{FCC365B7-0A70-579C-7C4E-E07BB6D520B2}"/>
              </a:ext>
            </a:extLst>
          </p:cNvPr>
          <p:cNvSpPr>
            <a:spLocks noGrp="1"/>
          </p:cNvSpPr>
          <p:nvPr>
            <p:ph type="subTitle" idx="1"/>
          </p:nvPr>
        </p:nvSpPr>
        <p:spPr/>
        <p:txBody>
          <a:bodyPr/>
          <a:lstStyle/>
          <a:p>
            <a:endParaRPr lang="en-US" dirty="0"/>
          </a:p>
          <a:p>
            <a:r>
              <a:rPr lang="en-US" dirty="0"/>
              <a:t>Timeline: pilots starting on Fall</a:t>
            </a:r>
          </a:p>
        </p:txBody>
      </p:sp>
    </p:spTree>
    <p:extLst>
      <p:ext uri="{BB962C8B-B14F-4D97-AF65-F5344CB8AC3E}">
        <p14:creationId xmlns:p14="http://schemas.microsoft.com/office/powerpoint/2010/main" val="1127796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798B-99E2-B444-AA4B-0B785C883F76}"/>
              </a:ext>
            </a:extLst>
          </p:cNvPr>
          <p:cNvSpPr>
            <a:spLocks noGrp="1"/>
          </p:cNvSpPr>
          <p:nvPr>
            <p:ph type="title"/>
          </p:nvPr>
        </p:nvSpPr>
        <p:spPr/>
        <p:txBody>
          <a:bodyPr/>
          <a:lstStyle/>
          <a:p>
            <a:r>
              <a:rPr lang="en-US" dirty="0"/>
              <a:t>First work package</a:t>
            </a:r>
          </a:p>
        </p:txBody>
      </p:sp>
      <p:sp>
        <p:nvSpPr>
          <p:cNvPr id="3" name="Content Placeholder 2">
            <a:extLst>
              <a:ext uri="{FF2B5EF4-FFF2-40B4-BE49-F238E27FC236}">
                <a16:creationId xmlns:a16="http://schemas.microsoft.com/office/drawing/2014/main" id="{97BCC2EF-E0C4-76A7-E3D4-438E732DFC3C}"/>
              </a:ext>
            </a:extLst>
          </p:cNvPr>
          <p:cNvSpPr>
            <a:spLocks noGrp="1"/>
          </p:cNvSpPr>
          <p:nvPr>
            <p:ph idx="1"/>
          </p:nvPr>
        </p:nvSpPr>
        <p:spPr/>
        <p:txBody>
          <a:bodyPr>
            <a:normAutofit fontScale="85000" lnSpcReduction="20000"/>
          </a:bodyPr>
          <a:lstStyle/>
          <a:p>
            <a:pPr marL="0" indent="0">
              <a:buNone/>
            </a:pPr>
            <a:r>
              <a:rPr lang="en-US" b="1" dirty="0"/>
              <a:t>First study</a:t>
            </a:r>
            <a:r>
              <a:rPr lang="en-US" dirty="0"/>
              <a:t>: simultaneously record neural and respiratory signals during a resting state phase, while to monitor the cardiac activity.</a:t>
            </a:r>
          </a:p>
          <a:p>
            <a:pPr marL="0" indent="0">
              <a:buNone/>
            </a:pPr>
            <a:endParaRPr lang="en-US" dirty="0"/>
          </a:p>
          <a:p>
            <a:pPr marL="0" indent="0">
              <a:buNone/>
            </a:pPr>
            <a:r>
              <a:rPr lang="en-US" b="1" dirty="0"/>
              <a:t>Second study</a:t>
            </a:r>
            <a:r>
              <a:rPr lang="en-US" dirty="0"/>
              <a:t>: develop a paradigm to measure whether children can distinguish their own respiratory signals as an indication of respiratory interoceptive attention. </a:t>
            </a:r>
          </a:p>
          <a:p>
            <a:pPr marL="0" indent="0">
              <a:buNone/>
            </a:pPr>
            <a:endParaRPr lang="en-US" dirty="0"/>
          </a:p>
          <a:p>
            <a:r>
              <a:rPr lang="en-US" u="sng" dirty="0"/>
              <a:t>interoceptive attention task</a:t>
            </a:r>
            <a:r>
              <a:rPr lang="en-US" dirty="0"/>
              <a:t>: the task of the participant will be to indicate whether the breath curve is in sync or out of sync with their own breathing tempo.</a:t>
            </a:r>
          </a:p>
          <a:p>
            <a:r>
              <a:rPr lang="en-US" u="sng" dirty="0"/>
              <a:t>exteroceptive attention task</a:t>
            </a:r>
            <a:r>
              <a:rPr lang="en-US" dirty="0"/>
              <a:t>: the task will be to indicate whether a puffer fish appeared on the breath curve or not. The task will be adjusted in difficulty so that there will be incorrect answers.</a:t>
            </a:r>
          </a:p>
        </p:txBody>
      </p:sp>
    </p:spTree>
    <p:extLst>
      <p:ext uri="{BB962C8B-B14F-4D97-AF65-F5344CB8AC3E}">
        <p14:creationId xmlns:p14="http://schemas.microsoft.com/office/powerpoint/2010/main" val="3492706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66D73-E96C-429B-33F8-D3FF7D92AC76}"/>
              </a:ext>
            </a:extLst>
          </p:cNvPr>
          <p:cNvSpPr>
            <a:spLocks noGrp="1"/>
          </p:cNvSpPr>
          <p:nvPr>
            <p:ph type="title"/>
          </p:nvPr>
        </p:nvSpPr>
        <p:spPr/>
        <p:txBody>
          <a:bodyPr/>
          <a:lstStyle/>
          <a:p>
            <a:r>
              <a:rPr lang="en-US" dirty="0"/>
              <a:t>Second work package</a:t>
            </a:r>
          </a:p>
        </p:txBody>
      </p:sp>
      <p:sp>
        <p:nvSpPr>
          <p:cNvPr id="3" name="Content Placeholder 2">
            <a:extLst>
              <a:ext uri="{FF2B5EF4-FFF2-40B4-BE49-F238E27FC236}">
                <a16:creationId xmlns:a16="http://schemas.microsoft.com/office/drawing/2014/main" id="{36F19036-A7BC-6714-41A2-6FBA23206B71}"/>
              </a:ext>
            </a:extLst>
          </p:cNvPr>
          <p:cNvSpPr>
            <a:spLocks noGrp="1"/>
          </p:cNvSpPr>
          <p:nvPr>
            <p:ph idx="1"/>
          </p:nvPr>
        </p:nvSpPr>
        <p:spPr/>
        <p:txBody>
          <a:bodyPr>
            <a:normAutofit fontScale="55000" lnSpcReduction="20000"/>
          </a:bodyPr>
          <a:lstStyle/>
          <a:p>
            <a:pPr marL="0" indent="0">
              <a:buNone/>
            </a:pPr>
            <a:r>
              <a:rPr lang="en-US" b="1" dirty="0"/>
              <a:t>Respiratory biofeedback game</a:t>
            </a:r>
            <a:r>
              <a:rPr lang="en-US" dirty="0"/>
              <a:t> (Sonne &amp; Jensen, 2016): Participants will control a virtual avatar (i.e. a puffer fish) in an undersea world using their breathing rhythm.  We will use the respiratory belt as the game controller. </a:t>
            </a:r>
          </a:p>
          <a:p>
            <a:pPr marL="0" indent="0">
              <a:buNone/>
            </a:pPr>
            <a:r>
              <a:rPr lang="en-US" u="sng" dirty="0"/>
              <a:t>Slow-paced breathing condition</a:t>
            </a:r>
            <a:r>
              <a:rPr lang="en-US" dirty="0"/>
              <a:t>: </a:t>
            </a:r>
          </a:p>
          <a:p>
            <a:pPr marL="0" indent="0">
              <a:buNone/>
            </a:pPr>
            <a:r>
              <a:rPr lang="en-US" dirty="0"/>
              <a:t>Participants will observe the starfish positioned on the screen representing a slow-paced breath wave. The goal is to collect starfish. </a:t>
            </a:r>
          </a:p>
          <a:p>
            <a:pPr marL="0" indent="0">
              <a:buNone/>
            </a:pPr>
            <a:r>
              <a:rPr lang="en-US" dirty="0"/>
              <a:t>The starfish will be positioned on the screen such that a slow-paced breathing pattern should be applied to collect as many starfish as possible. </a:t>
            </a:r>
          </a:p>
          <a:p>
            <a:pPr marL="0" indent="0">
              <a:buNone/>
            </a:pPr>
            <a:r>
              <a:rPr lang="en-US" dirty="0"/>
              <a:t>When the child inhales, the puffer fish will move towards the top of the screen and at the same time expand in size.  During exhalation, the puffer fish will move towards the bottom of the screen and shrink in size. If the child holds their breath, the puffer fish will not move or change</a:t>
            </a:r>
          </a:p>
          <a:p>
            <a:pPr marL="0" indent="0">
              <a:buNone/>
            </a:pPr>
            <a:r>
              <a:rPr lang="en-US" dirty="0"/>
              <a:t>The condition will last 10 minutes, divided into two parts, corresponding to 60 full slow-paced breath cycles (i.e. 6 cycles per minute).</a:t>
            </a:r>
          </a:p>
          <a:p>
            <a:pPr marL="0" indent="0">
              <a:buNone/>
            </a:pPr>
            <a:r>
              <a:rPr lang="en-US" u="sng" dirty="0"/>
              <a:t>Natural breathing condition (control):</a:t>
            </a:r>
            <a:r>
              <a:rPr lang="en-US" dirty="0"/>
              <a:t> participants will observe starfish positioned on the screen representing their average natural breathing rate. This parameter will be defined individually for each participant. </a:t>
            </a:r>
          </a:p>
          <a:p>
            <a:pPr marL="0" indent="0">
              <a:buNone/>
            </a:pPr>
            <a:r>
              <a:rPr lang="en-US" dirty="0"/>
              <a:t>The virtual avatar will move upwards and downwards on the screen to collect the starfish based on the actual breathing rate of the participant. This condition will last for 5 minutes. </a:t>
            </a:r>
          </a:p>
          <a:p>
            <a:pPr marL="0" indent="0">
              <a:buNone/>
            </a:pPr>
            <a:endParaRPr lang="en-US" dirty="0"/>
          </a:p>
          <a:p>
            <a:pPr marL="0" indent="0">
              <a:buNone/>
            </a:pPr>
            <a:r>
              <a:rPr lang="en-US" b="1" dirty="0"/>
              <a:t>* Stress factor (time pressure): </a:t>
            </a:r>
            <a:r>
              <a:rPr lang="en-US" dirty="0"/>
              <a:t>add a counter so children must collect the starfish within a set time. May require using several short trials instead of one long one.</a:t>
            </a:r>
          </a:p>
        </p:txBody>
      </p:sp>
    </p:spTree>
    <p:extLst>
      <p:ext uri="{BB962C8B-B14F-4D97-AF65-F5344CB8AC3E}">
        <p14:creationId xmlns:p14="http://schemas.microsoft.com/office/powerpoint/2010/main" val="3871517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B87F7-9202-1E87-E676-FC1A495E4411}"/>
              </a:ext>
            </a:extLst>
          </p:cNvPr>
          <p:cNvSpPr>
            <a:spLocks noGrp="1"/>
          </p:cNvSpPr>
          <p:nvPr>
            <p:ph type="title"/>
          </p:nvPr>
        </p:nvSpPr>
        <p:spPr/>
        <p:txBody>
          <a:bodyPr/>
          <a:lstStyle/>
          <a:p>
            <a:r>
              <a:rPr lang="en-US" dirty="0"/>
              <a:t>Third work package</a:t>
            </a:r>
          </a:p>
        </p:txBody>
      </p:sp>
      <p:sp>
        <p:nvSpPr>
          <p:cNvPr id="3" name="Content Placeholder 2">
            <a:extLst>
              <a:ext uri="{FF2B5EF4-FFF2-40B4-BE49-F238E27FC236}">
                <a16:creationId xmlns:a16="http://schemas.microsoft.com/office/drawing/2014/main" id="{F7BA1C9E-F675-3B4B-F096-911B442E5552}"/>
              </a:ext>
            </a:extLst>
          </p:cNvPr>
          <p:cNvSpPr>
            <a:spLocks noGrp="1"/>
          </p:cNvSpPr>
          <p:nvPr>
            <p:ph idx="1"/>
          </p:nvPr>
        </p:nvSpPr>
        <p:spPr/>
        <p:txBody>
          <a:bodyPr>
            <a:normAutofit fontScale="85000" lnSpcReduction="20000"/>
          </a:bodyPr>
          <a:lstStyle/>
          <a:p>
            <a:pPr marL="0" indent="0">
              <a:buNone/>
            </a:pPr>
            <a:r>
              <a:rPr lang="en-US" b="1" dirty="0"/>
              <a:t>Training phase</a:t>
            </a:r>
          </a:p>
          <a:p>
            <a:pPr marL="0" indent="0">
              <a:buNone/>
            </a:pPr>
            <a:r>
              <a:rPr lang="en-US" u="sng" dirty="0"/>
              <a:t>Training group:</a:t>
            </a:r>
            <a:r>
              <a:rPr lang="en-US" dirty="0"/>
              <a:t> use mobile based slow-paced respiration training games such as Breath Pacer or Calm, which enable players to perform short sessions of slow breathing. </a:t>
            </a:r>
          </a:p>
          <a:p>
            <a:endParaRPr lang="en-US" dirty="0"/>
          </a:p>
          <a:p>
            <a:pPr lvl="1"/>
            <a:r>
              <a:rPr lang="en-US" dirty="0"/>
              <a:t>i.e., the Calm game consists of 12 “breather clouds” on the mobile screen, which instructs the player to take a deep breath in (from the nose) and exhale into the microphone of the mobile phone to dissipate clouds. As the clouds disappear by consecutive slow breaths, a calming scene appears on the screen. The game is by default calibrated to a cycle of 6 breaths per minute (Agrawal et al., 2020). </a:t>
            </a:r>
          </a:p>
          <a:p>
            <a:endParaRPr lang="en-US" dirty="0"/>
          </a:p>
          <a:p>
            <a:pPr marL="0" indent="0">
              <a:buNone/>
            </a:pPr>
            <a:r>
              <a:rPr lang="en-US" u="sng" dirty="0"/>
              <a:t>Active control group</a:t>
            </a:r>
            <a:r>
              <a:rPr lang="en-US" dirty="0"/>
              <a:t>: use free apps (i.e., Ocarina 2 ) whereby players blow into the microphone of their smartphones and press on the buttons that appear on the screen to produce flute-like sounds. The player earns “breath points” as they play more songs.</a:t>
            </a:r>
          </a:p>
          <a:p>
            <a:endParaRPr lang="en-US" dirty="0"/>
          </a:p>
          <a:p>
            <a:pPr marL="0" indent="0">
              <a:buNone/>
            </a:pPr>
            <a:endParaRPr lang="en-US" dirty="0"/>
          </a:p>
        </p:txBody>
      </p:sp>
    </p:spTree>
    <p:extLst>
      <p:ext uri="{BB962C8B-B14F-4D97-AF65-F5344CB8AC3E}">
        <p14:creationId xmlns:p14="http://schemas.microsoft.com/office/powerpoint/2010/main" val="4128712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588</Words>
  <Application>Microsoft Macintosh PowerPoint</Application>
  <PresentationFormat>Widescreen</PresentationFormat>
  <Paragraphs>29</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Respiratory interoception in the developing brain –  developing the tasks</vt:lpstr>
      <vt:lpstr>First work package</vt:lpstr>
      <vt:lpstr>Second work package</vt:lpstr>
      <vt:lpstr>Third work package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Nina Besser</dc:creator>
  <cp:lastModifiedBy>Nina Besser</cp:lastModifiedBy>
  <cp:revision>4</cp:revision>
  <dcterms:created xsi:type="dcterms:W3CDTF">2026-02-11T09:49:37Z</dcterms:created>
  <dcterms:modified xsi:type="dcterms:W3CDTF">2026-02-11T10:56:32Z</dcterms:modified>
</cp:coreProperties>
</file>